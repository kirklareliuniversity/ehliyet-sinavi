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58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3957" y="882104"/>
            <a:ext cx="5256086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spcBef>
                <a:spcPts val="300"/>
              </a:spcBef>
              <a:spcAft>
                <a:spcPts val="1500"/>
              </a:spcAft>
              <a:buNone/>
            </a:pP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943957" y="2032695"/>
            <a:ext cx="525608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spcAft>
                <a:spcPts val="1125"/>
              </a:spcAft>
              <a:buNone/>
            </a:pPr>
            <a:r>
              <a:rPr lang="en-US" sz="3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EHLİYET SINAV SİSTEMİ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1943957" y="2613720"/>
            <a:ext cx="5256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Ehliyet Sınav Platformu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64979" y="3166170"/>
            <a:ext cx="2814042" cy="458986"/>
          </a:xfrm>
          <a:prstGeom prst="roundRect">
            <a:avLst>
              <a:gd name="adj" fmla="val 10376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76881" y="3309045"/>
            <a:ext cx="21902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Spring Boot - MySQL - Thymeleaf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943957" y="4101405"/>
            <a:ext cx="52560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750"/>
              </a:spcBef>
              <a:spcAft>
                <a:spcPts val="300"/>
              </a:spcAft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ff66f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81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 Özeti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884164"/>
            <a:ext cx="4048125" cy="1059061"/>
          </a:xfrm>
          <a:prstGeom prst="roundRect">
            <a:avLst>
              <a:gd name="adj" fmla="val 107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400050" y="1884164"/>
            <a:ext cx="0" cy="1059061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9600" y="2074664"/>
            <a:ext cx="37016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Amaç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600" y="2352675"/>
            <a:ext cx="37016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Ehliyet sınavına hazırlanan adaylar için gerçekçi, güvenli ve modern bir online sınav platformu geliştirmek.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1000" y="3133725"/>
            <a:ext cx="4048125" cy="1059061"/>
          </a:xfrm>
          <a:prstGeom prst="roundRect">
            <a:avLst>
              <a:gd name="adj" fmla="val 107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00050" y="3133725"/>
            <a:ext cx="0" cy="1059061"/>
          </a:xfrm>
          <a:prstGeom prst="line">
            <a:avLst/>
          </a:prstGeom>
          <a:noFill/>
          <a:ln w="38100">
            <a:solidFill>
              <a:srgbClr val="F5576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9600" y="3324225"/>
            <a:ext cx="37016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557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Güvenlik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9600" y="3602236"/>
            <a:ext cx="37016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Security ile güçlü kimlik doğrulama ve BCrypt şifreleme ile veri güvenliği.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14875" y="1255514"/>
            <a:ext cx="4048125" cy="1840111"/>
          </a:xfrm>
          <a:prstGeom prst="roundRect">
            <a:avLst>
              <a:gd name="adj" fmla="val 62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733925" y="1255514"/>
            <a:ext cx="0" cy="184011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43475" y="1446014"/>
            <a:ext cx="37016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Özellikler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43475" y="1724025"/>
            <a:ext cx="3629025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soruluk gerçekçi sınavlar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Görsel ve videolu sorular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Anlık sonuç ve analiz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yönetim paneli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714875" y="3286125"/>
            <a:ext cx="4048125" cy="1535311"/>
          </a:xfrm>
          <a:prstGeom prst="roundRect">
            <a:avLst>
              <a:gd name="adj" fmla="val 74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733925" y="3286125"/>
            <a:ext cx="0" cy="153531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43475" y="3476625"/>
            <a:ext cx="37016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Kullanıcılar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43475" y="3754636"/>
            <a:ext cx="3629025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Adaylar (sınava girenler)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Yöneticiler (admin panel)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Çoklu kullanıcı desteği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50280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81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Kullanılan Teknolojiler</a:t>
            </a:r>
            <a:endParaRPr lang="en-US" sz="2400" dirty="0"/>
          </a:p>
        </p:txBody>
      </p:sp>
      <p:pic>
        <p:nvPicPr>
          <p:cNvPr id="4" name="Image 1" descr="/tmp/rasterized-gradient-3df25b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04938"/>
            <a:ext cx="1952625" cy="32669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5499" y="1604963"/>
            <a:ext cx="15836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☕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65499" y="2180183"/>
            <a:ext cx="158362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750"/>
              </a:spcBef>
              <a:buNone/>
            </a:pPr>
            <a:r>
              <a:rPr lang="en-US" sz="135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81025" y="2681139"/>
            <a:ext cx="1552575" cy="1790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17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3.2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Security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Data JPA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Hibernate ORM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Lombok</a:t>
            </a:r>
            <a:endParaRPr lang="en-US" sz="1350" dirty="0"/>
          </a:p>
        </p:txBody>
      </p:sp>
      <p:pic>
        <p:nvPicPr>
          <p:cNvPr id="8" name="Image 2" descr="/tmp/rasterized-gradient-452fb9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4672" y="1404647"/>
            <a:ext cx="2128433" cy="32288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08624" y="1757363"/>
            <a:ext cx="15836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</a:t>
            </a:r>
            <a:endParaRPr lang="en-US" sz="2700" dirty="0"/>
          </a:p>
        </p:txBody>
      </p:sp>
      <p:sp>
        <p:nvSpPr>
          <p:cNvPr id="10" name="Text 5"/>
          <p:cNvSpPr/>
          <p:nvPr/>
        </p:nvSpPr>
        <p:spPr>
          <a:xfrm>
            <a:off x="2708624" y="2332583"/>
            <a:ext cx="158362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750"/>
              </a:spcBef>
              <a:buNone/>
            </a:pPr>
            <a:r>
              <a:rPr lang="en-US" sz="1350" b="1" dirty="0">
                <a:solidFill>
                  <a:srgbClr val="F557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2724150" y="2833539"/>
            <a:ext cx="1552575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8.0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XAMPP Server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phpMyAdmin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HikariCP Pool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UTF-8 Encoding</a:t>
            </a:r>
            <a:endParaRPr lang="en-US" sz="1350" dirty="0"/>
          </a:p>
        </p:txBody>
      </p:sp>
      <p:pic>
        <p:nvPicPr>
          <p:cNvPr id="12" name="Image 3" descr="/tmp/rasterized-gradient-5e7b995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536" y="1421154"/>
            <a:ext cx="1954339" cy="32316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1749" y="1624013"/>
            <a:ext cx="15836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</a:t>
            </a:r>
            <a:endParaRPr lang="en-US" sz="2700" dirty="0"/>
          </a:p>
        </p:txBody>
      </p:sp>
      <p:sp>
        <p:nvSpPr>
          <p:cNvPr id="14" name="Text 8"/>
          <p:cNvSpPr/>
          <p:nvPr/>
        </p:nvSpPr>
        <p:spPr>
          <a:xfrm>
            <a:off x="4851749" y="2199233"/>
            <a:ext cx="158362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750"/>
              </a:spcBef>
              <a:buNone/>
            </a:pPr>
            <a:r>
              <a:rPr lang="en-US" sz="135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67275" y="2700189"/>
            <a:ext cx="1552575" cy="1752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Thymeleaf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ve CSS3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ES6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Design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UI</a:t>
            </a:r>
            <a:endParaRPr lang="en-US" sz="1350" dirty="0"/>
          </a:p>
        </p:txBody>
      </p:sp>
      <p:pic>
        <p:nvPicPr>
          <p:cNvPr id="16" name="Image 4" descr="/tmp/rasterized-gradient-82cae2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349" y="1378291"/>
            <a:ext cx="2158556" cy="32745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94874" y="1757363"/>
            <a:ext cx="15836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</a:t>
            </a:r>
            <a:endParaRPr lang="en-US" sz="2700" dirty="0"/>
          </a:p>
        </p:txBody>
      </p:sp>
      <p:sp>
        <p:nvSpPr>
          <p:cNvPr id="18" name="Text 11"/>
          <p:cNvSpPr/>
          <p:nvPr/>
        </p:nvSpPr>
        <p:spPr>
          <a:xfrm>
            <a:off x="6994874" y="2332583"/>
            <a:ext cx="158362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Bef>
                <a:spcPts val="750"/>
              </a:spcBef>
              <a:buNone/>
            </a:pPr>
            <a:r>
              <a:rPr lang="en-US" sz="13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Güvenlik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7010400" y="2833539"/>
            <a:ext cx="1552575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Security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Şifreleme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 Koruması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Yönetimi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Based Auth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26634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81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Özellikleri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171575"/>
            <a:ext cx="2667000" cy="1857375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/tmp/rasterized-gradient-084da7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5" y="1362075"/>
            <a:ext cx="476250" cy="4762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68921" y="1440210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48640" y="1952625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Soru Sınavı</a:t>
            </a: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548640" y="2200275"/>
            <a:ext cx="23317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Gerçek ehliyet sınavı formatında kapsamlı test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238500" y="1171575"/>
            <a:ext cx="2667000" cy="1857375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/tmp/rasterized-gradient-fa4949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1362075"/>
            <a:ext cx="476250" cy="476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26421" y="1440210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3406140" y="1952625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Multimedya Desteği</a:t>
            </a:r>
            <a:endParaRPr lang="en-US" sz="1125" dirty="0"/>
          </a:p>
        </p:txBody>
      </p:sp>
      <p:sp>
        <p:nvSpPr>
          <p:cNvPr id="13" name="Text 8"/>
          <p:cNvSpPr/>
          <p:nvPr/>
        </p:nvSpPr>
        <p:spPr>
          <a:xfrm>
            <a:off x="3406140" y="2200275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Görsel ve videolu sorular ile zengin içerik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096000" y="1171575"/>
            <a:ext cx="2667000" cy="1857375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/tmp/rasterized-gradient-3ab6615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375" y="1362075"/>
            <a:ext cx="476250" cy="4762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83921" y="1440210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263640" y="1952625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Anlık Sonuç</a:t>
            </a:r>
            <a:endParaRPr lang="en-US" sz="1125" dirty="0"/>
          </a:p>
        </p:txBody>
      </p:sp>
      <p:sp>
        <p:nvSpPr>
          <p:cNvPr id="18" name="Text 12"/>
          <p:cNvSpPr/>
          <p:nvPr/>
        </p:nvSpPr>
        <p:spPr>
          <a:xfrm>
            <a:off x="6263640" y="2200275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Sınav bitiminde detaylı analiz ve puan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81000" y="3219450"/>
            <a:ext cx="2667000" cy="1685925"/>
          </a:xfrm>
          <a:prstGeom prst="roundRect">
            <a:avLst>
              <a:gd name="adj" fmla="val 678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4" descr="/tmp/rasterized-gradient-35a26d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375" y="3409950"/>
            <a:ext cx="476250" cy="4762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68921" y="348808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548640" y="400050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Tasarım</a:t>
            </a:r>
            <a:endParaRPr lang="en-US" sz="1125" dirty="0"/>
          </a:p>
        </p:txBody>
      </p:sp>
      <p:sp>
        <p:nvSpPr>
          <p:cNvPr id="23" name="Text 16"/>
          <p:cNvSpPr/>
          <p:nvPr/>
        </p:nvSpPr>
        <p:spPr>
          <a:xfrm>
            <a:off x="548640" y="42481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Tüm cihazlarda uyumlu modern arayüz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238500" y="3219450"/>
            <a:ext cx="2667000" cy="1685925"/>
          </a:xfrm>
          <a:prstGeom prst="roundRect">
            <a:avLst>
              <a:gd name="adj" fmla="val 678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5" descr="/tmp/rasterized-gradient-ad0bc84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3875" y="3409950"/>
            <a:ext cx="476250" cy="4762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426421" y="348808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3406140" y="400050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Güvenli Giriş</a:t>
            </a:r>
            <a:endParaRPr lang="en-US" sz="1125" dirty="0"/>
          </a:p>
        </p:txBody>
      </p:sp>
      <p:sp>
        <p:nvSpPr>
          <p:cNvPr id="28" name="Text 20"/>
          <p:cNvSpPr/>
          <p:nvPr/>
        </p:nvSpPr>
        <p:spPr>
          <a:xfrm>
            <a:off x="3406140" y="42481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şifrelenmiş kimlik doğrulama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096000" y="3219450"/>
            <a:ext cx="2667000" cy="1685925"/>
          </a:xfrm>
          <a:prstGeom prst="roundRect">
            <a:avLst>
              <a:gd name="adj" fmla="val 678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6" descr="/tmp/rasterized-gradient-155d431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1375" y="3409950"/>
            <a:ext cx="476250" cy="4762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283921" y="348808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32" name="Text 23"/>
          <p:cNvSpPr/>
          <p:nvPr/>
        </p:nvSpPr>
        <p:spPr>
          <a:xfrm>
            <a:off x="6263640" y="400050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Sınav Geçmişi</a:t>
            </a:r>
            <a:endParaRPr lang="en-US" sz="1125" dirty="0"/>
          </a:p>
        </p:txBody>
      </p:sp>
      <p:sp>
        <p:nvSpPr>
          <p:cNvPr id="33" name="Text 24"/>
          <p:cNvSpPr/>
          <p:nvPr/>
        </p:nvSpPr>
        <p:spPr>
          <a:xfrm>
            <a:off x="6263640" y="4248150"/>
            <a:ext cx="23317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Tüm sınavların kaydı ve performans takibi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88f03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81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Sınav Akışı</a:t>
            </a:r>
            <a:endParaRPr lang="en-US" sz="2400" dirty="0"/>
          </a:p>
        </p:txBody>
      </p:sp>
      <p:pic>
        <p:nvPicPr>
          <p:cNvPr id="4" name="Image 1" descr="/tmp/rasterized-gradient-0b6c1c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1686074"/>
            <a:ext cx="857250" cy="857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71993" y="1847999"/>
            <a:ext cx="485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877378" y="2638574"/>
            <a:ext cx="874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Giriş Yap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2933700" y="2069009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100" dirty="0"/>
          </a:p>
        </p:txBody>
      </p:sp>
      <p:pic>
        <p:nvPicPr>
          <p:cNvPr id="8" name="Image 2" descr="/tmp/rasterized-gradient-ac0658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900" y="1686074"/>
            <a:ext cx="857250" cy="857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76943" y="1847999"/>
            <a:ext cx="485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3382328" y="2638574"/>
            <a:ext cx="874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Sınav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438650" y="2069009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100" dirty="0"/>
          </a:p>
        </p:txBody>
      </p:sp>
      <p:pic>
        <p:nvPicPr>
          <p:cNvPr id="12" name="Image 3" descr="/tmp/rasterized-gradient-10ea7d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5850" y="1686074"/>
            <a:ext cx="857250" cy="857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81893" y="1847999"/>
            <a:ext cx="485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endParaRPr lang="en-US" sz="3000" dirty="0"/>
          </a:p>
        </p:txBody>
      </p:sp>
      <p:sp>
        <p:nvSpPr>
          <p:cNvPr id="14" name="Text 8"/>
          <p:cNvSpPr/>
          <p:nvPr/>
        </p:nvSpPr>
        <p:spPr>
          <a:xfrm>
            <a:off x="4887278" y="2638574"/>
            <a:ext cx="874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Bitir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5943600" y="2069009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100" dirty="0"/>
          </a:p>
        </p:txBody>
      </p:sp>
      <p:pic>
        <p:nvPicPr>
          <p:cNvPr id="16" name="Image 4" descr="/tmp/rasterized-gradient-e78120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686074"/>
            <a:ext cx="857250" cy="8572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86843" y="1847999"/>
            <a:ext cx="485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endParaRPr lang="en-US" sz="3000" dirty="0"/>
          </a:p>
        </p:txBody>
      </p:sp>
      <p:sp>
        <p:nvSpPr>
          <p:cNvPr id="18" name="Text 11"/>
          <p:cNvSpPr/>
          <p:nvPr/>
        </p:nvSpPr>
        <p:spPr>
          <a:xfrm>
            <a:off x="6392228" y="2638574"/>
            <a:ext cx="874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Sonuç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2271266" y="3453854"/>
            <a:ext cx="1328738" cy="937022"/>
          </a:xfrm>
          <a:prstGeom prst="roundRect">
            <a:avLst>
              <a:gd name="adj" fmla="val 121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2549444" y="3625304"/>
            <a:ext cx="7723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70+</a:t>
            </a:r>
            <a:endParaRPr lang="en-US" sz="2100" dirty="0"/>
          </a:p>
        </p:txBody>
      </p:sp>
      <p:sp>
        <p:nvSpPr>
          <p:cNvPr id="21" name="Text 14"/>
          <p:cNvSpPr/>
          <p:nvPr/>
        </p:nvSpPr>
        <p:spPr>
          <a:xfrm>
            <a:off x="2549444" y="4046190"/>
            <a:ext cx="7723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75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Geçme Puanı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4076254" y="3453854"/>
            <a:ext cx="1266676" cy="937022"/>
          </a:xfrm>
          <a:prstGeom prst="roundRect">
            <a:avLst>
              <a:gd name="adj" fmla="val 121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4355052" y="3625304"/>
            <a:ext cx="70908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4355052" y="4046190"/>
            <a:ext cx="7090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75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Toplam Soru</a:t>
            </a:r>
            <a:endParaRPr lang="en-US" sz="975" dirty="0"/>
          </a:p>
        </p:txBody>
      </p:sp>
      <p:sp>
        <p:nvSpPr>
          <p:cNvPr id="25" name="Text 18"/>
          <p:cNvSpPr/>
          <p:nvPr/>
        </p:nvSpPr>
        <p:spPr>
          <a:xfrm>
            <a:off x="5819180" y="3453854"/>
            <a:ext cx="1053405" cy="937022"/>
          </a:xfrm>
          <a:prstGeom prst="roundRect">
            <a:avLst>
              <a:gd name="adj" fmla="val 121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6100111" y="3625304"/>
            <a:ext cx="49154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100" dirty="0"/>
          </a:p>
        </p:txBody>
      </p:sp>
      <p:sp>
        <p:nvSpPr>
          <p:cNvPr id="27" name="Text 20"/>
          <p:cNvSpPr/>
          <p:nvPr/>
        </p:nvSpPr>
        <p:spPr>
          <a:xfrm>
            <a:off x="6100111" y="4046190"/>
            <a:ext cx="4915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75"/>
              </a:spcBef>
              <a:buNone/>
            </a:pPr>
            <a:r>
              <a:rPr lang="en-US" sz="975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Seçenek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17f97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81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Rolleri</a:t>
            </a:r>
            <a:endParaRPr lang="en-US" sz="2400" dirty="0"/>
          </a:p>
        </p:txBody>
      </p:sp>
      <p:pic>
        <p:nvPicPr>
          <p:cNvPr id="4" name="Image 1" descr="/tmp/rasterized-gradient-7e9bee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41822"/>
            <a:ext cx="4000500" cy="3593157"/>
          </a:xfrm>
          <a:prstGeom prst="rect">
            <a:avLst/>
          </a:prstGeom>
        </p:spPr>
      </p:pic>
      <p:pic>
        <p:nvPicPr>
          <p:cNvPr id="5" name="Image 2" descr="/tmp/rasterized-gradient-23fb68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875" y="1498997"/>
            <a:ext cx="666750" cy="666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187244" y="1618952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1487424" y="2308622"/>
            <a:ext cx="178765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3"/>
              </a:lnSpc>
              <a:buNone/>
            </a:pPr>
            <a:r>
              <a:rPr lang="en-US" sz="165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KULLANICI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603314" y="2589014"/>
            <a:ext cx="3555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Sınava Giren Aday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638175" y="3091904"/>
            <a:ext cx="348615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Sınava girme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Sınav geçmişini görme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Sonuç detaylarını inceleme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 bilgilerini görme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İstatistikleri takip etme</a:t>
            </a:r>
            <a:endParaRPr lang="en-US" sz="1350" dirty="0"/>
          </a:p>
        </p:txBody>
      </p:sp>
      <p:pic>
        <p:nvPicPr>
          <p:cNvPr id="10" name="Image 3" descr="/tmp/rasterized-gradient-3509d9a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241822"/>
            <a:ext cx="4000500" cy="3593157"/>
          </a:xfrm>
          <a:prstGeom prst="rect">
            <a:avLst/>
          </a:prstGeom>
        </p:spPr>
      </p:pic>
      <p:pic>
        <p:nvPicPr>
          <p:cNvPr id="11" name="Image 4" descr="/tmp/rasterized-gradient-2eead55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1498997"/>
            <a:ext cx="666750" cy="6667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568744" y="1618952"/>
            <a:ext cx="388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 smtClean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️</a:t>
            </a:r>
            <a:endParaRPr lang="en-US" sz="2400" dirty="0"/>
          </a:p>
        </p:txBody>
      </p:sp>
      <p:sp>
        <p:nvSpPr>
          <p:cNvPr id="13" name="Text 6"/>
          <p:cNvSpPr/>
          <p:nvPr/>
        </p:nvSpPr>
        <p:spPr>
          <a:xfrm>
            <a:off x="5868924" y="2308622"/>
            <a:ext cx="1787652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33"/>
              </a:lnSpc>
              <a:buNone/>
            </a:pPr>
            <a:r>
              <a:rPr lang="en-US" sz="1650" b="1" dirty="0">
                <a:solidFill>
                  <a:srgbClr val="F557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ADMİN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4984814" y="2589014"/>
            <a:ext cx="3555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Yöneticisi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5019675" y="3091904"/>
            <a:ext cx="348615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Kullanıcı yönetimi (CRUD)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Soru ekleme ve düzenleme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Görsel ve Video yükleme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Tüm sınav sonuçları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istatistikleri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38455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81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Güvenlik Özellikleri</a:t>
            </a:r>
            <a:endParaRPr lang="en-US" sz="2400" dirty="0"/>
          </a:p>
        </p:txBody>
      </p:sp>
      <p:pic>
        <p:nvPicPr>
          <p:cNvPr id="4" name="Image 1" descr="/tmp/rasterized-gradient-7e9670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78459"/>
            <a:ext cx="4071938" cy="14647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650" y="1726109"/>
            <a:ext cx="428625" cy="428625"/>
          </a:xfrm>
          <a:prstGeom prst="roundRect">
            <a:avLst>
              <a:gd name="adj" fmla="val 2222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12143" y="1793677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171575" y="1843236"/>
            <a:ext cx="122066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Security</a:t>
            </a:r>
            <a:endParaRPr lang="en-US" sz="1275" dirty="0"/>
          </a:p>
        </p:txBody>
      </p:sp>
      <p:sp>
        <p:nvSpPr>
          <p:cNvPr id="8" name="Text 4"/>
          <p:cNvSpPr/>
          <p:nvPr/>
        </p:nvSpPr>
        <p:spPr>
          <a:xfrm>
            <a:off x="628650" y="2269034"/>
            <a:ext cx="364817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ile Admin ve User yetkilendirmesi. URL bazlı güvenlik kuralları.</a:t>
            </a:r>
            <a:endParaRPr lang="en-US" sz="1050" dirty="0"/>
          </a:p>
        </p:txBody>
      </p:sp>
      <p:pic>
        <p:nvPicPr>
          <p:cNvPr id="9" name="Image 2" descr="/tmp/rasterized-gradient-fc4242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133725"/>
            <a:ext cx="4071938" cy="14647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8650" y="3381375"/>
            <a:ext cx="428625" cy="428625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12143" y="3448943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171575" y="3498503"/>
            <a:ext cx="134013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Şifreleme</a:t>
            </a:r>
            <a:endParaRPr lang="en-US" sz="1275" dirty="0"/>
          </a:p>
        </p:txBody>
      </p:sp>
      <p:sp>
        <p:nvSpPr>
          <p:cNvPr id="13" name="Text 8"/>
          <p:cNvSpPr/>
          <p:nvPr/>
        </p:nvSpPr>
        <p:spPr>
          <a:xfrm>
            <a:off x="628650" y="3924300"/>
            <a:ext cx="364817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Tüm şifreler BCrypt algoritması ile hashlenerek saklanır. Güçlü tek yönlü şifreleme.</a:t>
            </a:r>
            <a:endParaRPr lang="en-US" sz="1050" dirty="0"/>
          </a:p>
        </p:txBody>
      </p:sp>
      <p:pic>
        <p:nvPicPr>
          <p:cNvPr id="14" name="Image 3" descr="/tmp/rasterized-gradient-b2a2b6a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063" y="1478459"/>
            <a:ext cx="4071938" cy="14647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38713" y="1726109"/>
            <a:ext cx="428625" cy="428625"/>
          </a:xfrm>
          <a:prstGeom prst="roundRect">
            <a:avLst>
              <a:gd name="adj" fmla="val 22222"/>
            </a:avLst>
          </a:prstGeom>
          <a:solidFill>
            <a:srgbClr val="F557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5022205" y="1793677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5481638" y="1843236"/>
            <a:ext cx="1257398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557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 Koruması</a:t>
            </a:r>
            <a:endParaRPr lang="en-US" sz="1275" dirty="0"/>
          </a:p>
        </p:txBody>
      </p:sp>
      <p:sp>
        <p:nvSpPr>
          <p:cNvPr id="18" name="Text 12"/>
          <p:cNvSpPr/>
          <p:nvPr/>
        </p:nvSpPr>
        <p:spPr>
          <a:xfrm>
            <a:off x="4938713" y="2269034"/>
            <a:ext cx="364817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Cross-Site Request Forgery saldırılarına karşı otomatik token koruması.</a:t>
            </a:r>
            <a:endParaRPr lang="en-US" sz="1050" dirty="0"/>
          </a:p>
        </p:txBody>
      </p:sp>
      <p:pic>
        <p:nvPicPr>
          <p:cNvPr id="19" name="Image 4" descr="/tmp/rasterized-gradient-adeaf13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063" y="3133725"/>
            <a:ext cx="4071938" cy="146476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938713" y="3381375"/>
            <a:ext cx="428625" cy="428625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5022205" y="3448943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5481638" y="3498503"/>
            <a:ext cx="137383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Yönetimi</a:t>
            </a:r>
            <a:endParaRPr lang="en-US" sz="1275" dirty="0"/>
          </a:p>
        </p:txBody>
      </p:sp>
      <p:sp>
        <p:nvSpPr>
          <p:cNvPr id="23" name="Text 16"/>
          <p:cNvSpPr/>
          <p:nvPr/>
        </p:nvSpPr>
        <p:spPr>
          <a:xfrm>
            <a:off x="4938713" y="3924300"/>
            <a:ext cx="364817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dakikalık oturum süresi. Otomatik oturum sonlandırma ve güvenli çıkış.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7d8f2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81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38125"/>
            <a:ext cx="43331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Veritabanı Yapısı - MySQL 8.0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1228725"/>
            <a:ext cx="2635300" cy="3619500"/>
          </a:xfrm>
          <a:prstGeom prst="roundRect">
            <a:avLst>
              <a:gd name="adj" fmla="val 433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381000" y="1247775"/>
            <a:ext cx="2635300" cy="0"/>
          </a:xfrm>
          <a:prstGeom prst="line">
            <a:avLst/>
          </a:prstGeom>
          <a:noFill/>
          <a:ln w="38100">
            <a:solidFill>
              <a:srgbClr val="667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2450" y="143827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5527" y="1480245"/>
            <a:ext cx="34565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2450" y="1971675"/>
            <a:ext cx="2292400" cy="2705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- BIGINT PK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username - VARCHAR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- VARCHAR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firstName - VARCHAR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lastName - VARCHAR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- VARCHAR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tcNo - VARCHAR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- ENUM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createdAt - DATETIME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254425" y="1228725"/>
            <a:ext cx="2635300" cy="3619500"/>
          </a:xfrm>
          <a:prstGeom prst="roundRect">
            <a:avLst>
              <a:gd name="adj" fmla="val 433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254424" y="1262956"/>
            <a:ext cx="2635301" cy="1905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5875" y="159067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758952" y="1632645"/>
            <a:ext cx="6737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25875" y="2124075"/>
            <a:ext cx="2292400" cy="2400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- BIGINT PK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questionText - TEXT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optionA/B/C/D - VARCHAR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correctAnswer - CHAR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- ENUM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- ENUM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mediaPath - VARCHAR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difficulty - INT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27849" y="1228725"/>
            <a:ext cx="2635300" cy="3619500"/>
          </a:xfrm>
          <a:prstGeom prst="roundRect">
            <a:avLst>
              <a:gd name="adj" fmla="val 433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127849" y="1290703"/>
            <a:ext cx="2635300" cy="0"/>
          </a:xfrm>
          <a:prstGeom prst="line">
            <a:avLst/>
          </a:prstGeom>
          <a:noFill/>
          <a:ln w="38100">
            <a:solidFill>
              <a:srgbClr val="F557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9299" y="159067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32377" y="1632645"/>
            <a:ext cx="88987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57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ExamResult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99299" y="2124075"/>
            <a:ext cx="2292400" cy="2400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- BIGINT PK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user_id - FK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examDate - DATETIME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- INT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correctAnswers - INT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wrongAnswers - INT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passed - BOOLEAN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userAnswers - JSON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9533" y="1634579"/>
            <a:ext cx="2904935" cy="138691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 algn="ctr">
              <a:lnSpc>
                <a:spcPts val="6720"/>
              </a:lnSpc>
              <a:spcBef>
                <a:spcPts val="300"/>
              </a:spcBef>
              <a:spcAft>
                <a:spcPts val="1125"/>
              </a:spcAft>
              <a:buNone/>
            </a:pP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119533" y="1481286"/>
            <a:ext cx="29049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750"/>
              </a:spcAft>
              <a:buNone/>
            </a:pP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678906" y="1995636"/>
            <a:ext cx="578618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2625"/>
              </a:spcAft>
              <a:buNone/>
            </a:pP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935784" y="2740372"/>
            <a:ext cx="95879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Aft>
                <a:spcPts val="600"/>
              </a:spcAft>
              <a:buNone/>
            </a:pP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935784" y="2930872"/>
            <a:ext cx="958798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33089" y="2740372"/>
            <a:ext cx="95044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Aft>
                <a:spcPts val="600"/>
              </a:spcAft>
              <a:buNone/>
            </a:pP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533089" y="2930872"/>
            <a:ext cx="950449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5791" y="2740372"/>
            <a:ext cx="57670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Aft>
                <a:spcPts val="600"/>
              </a:spcAft>
              <a:buNone/>
            </a:pP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125791" y="2930872"/>
            <a:ext cx="576706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45620" y="2740372"/>
            <a:ext cx="861643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Aft>
                <a:spcPts val="600"/>
              </a:spcAft>
              <a:buNone/>
            </a:pP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345620" y="2930872"/>
            <a:ext cx="861643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13534" y="1046922"/>
            <a:ext cx="3316932" cy="51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900"/>
              </a:spcAft>
              <a:buNone/>
            </a:pPr>
            <a:r>
              <a:rPr lang="tr-TR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HAZIRLAYANLAR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894582" y="1046922"/>
            <a:ext cx="3335884" cy="3459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endParaRPr lang="tr-TR" sz="1600" b="1" dirty="0">
              <a:solidFill>
                <a:srgbClr val="FFFFFF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ctr">
              <a:lnSpc>
                <a:spcPts val="1680"/>
              </a:lnSpc>
              <a:buNone/>
            </a:pPr>
            <a:endParaRPr lang="tr-TR" sz="1600" b="1" dirty="0" smtClean="0">
              <a:solidFill>
                <a:srgbClr val="FFFFFF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ctr">
              <a:lnSpc>
                <a:spcPts val="1680"/>
              </a:lnSpc>
              <a:buNone/>
            </a:pPr>
            <a:endParaRPr lang="tr-TR" sz="1600" b="1" dirty="0">
              <a:solidFill>
                <a:srgbClr val="FFFFFF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ctr">
              <a:lnSpc>
                <a:spcPts val="1680"/>
              </a:lnSpc>
              <a:buNone/>
            </a:pPr>
            <a:r>
              <a:rPr lang="tr-TR" sz="1600" b="1" dirty="0" smtClean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EFE ATA</a:t>
            </a:r>
          </a:p>
          <a:p>
            <a:pPr marL="0" indent="0" algn="ctr">
              <a:lnSpc>
                <a:spcPts val="1680"/>
              </a:lnSpc>
              <a:buNone/>
            </a:pPr>
            <a:endParaRPr lang="tr-TR" sz="1600" b="1" dirty="0" smtClean="0">
              <a:solidFill>
                <a:srgbClr val="FFFFFF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ctr">
              <a:lnSpc>
                <a:spcPts val="1680"/>
              </a:lnSpc>
              <a:buNone/>
            </a:pPr>
            <a:r>
              <a:rPr lang="tr-TR" sz="1600" b="1" dirty="0" smtClean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BAYRAM </a:t>
            </a:r>
            <a:r>
              <a:rPr lang="tr-TR" sz="1600" b="1" dirty="0" smtClean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BORA KABATAŞ</a:t>
            </a:r>
          </a:p>
          <a:p>
            <a:pPr marL="0" indent="0" algn="ctr">
              <a:lnSpc>
                <a:spcPts val="1680"/>
              </a:lnSpc>
              <a:buNone/>
            </a:pPr>
            <a:endParaRPr lang="tr-TR" sz="1600" b="1" dirty="0" smtClean="0">
              <a:solidFill>
                <a:srgbClr val="FFFFFF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 algn="ctr">
              <a:lnSpc>
                <a:spcPts val="1680"/>
              </a:lnSpc>
              <a:buNone/>
            </a:pPr>
            <a:r>
              <a:rPr lang="tr-TR" sz="1600" b="1" dirty="0" smtClean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SAMET PÜLAT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406</Words>
  <Application>Microsoft Office PowerPoint</Application>
  <PresentationFormat>Ekran Gösterisi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Ehliyet Sınav Sistemi</dc:title>
  <dc:subject>Online Ehliyet Sınav Platformu</dc:subject>
  <dc:creator>Efe Ata, Bayram Bora Kabataş, Samet Pülat</dc:creator>
  <cp:lastModifiedBy>EFE</cp:lastModifiedBy>
  <cp:revision>10</cp:revision>
  <dcterms:created xsi:type="dcterms:W3CDTF">2025-12-17T17:10:14Z</dcterms:created>
  <dcterms:modified xsi:type="dcterms:W3CDTF">2025-12-17T17:53:30Z</dcterms:modified>
</cp:coreProperties>
</file>